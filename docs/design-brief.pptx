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user and the problem" id="{a051d50e-7830-130c-a0fa-86f1df71da68}">
          <p14:sldIdLst>
            <p14:sldId id="256"/>
          </p14:sldIdLst>
        </p14:section>
        <p14:section name="How it works" id="{22f8e645-a7ee-0ba8-9171-38524bed90aa}">
          <p14:sldIdLst>
            <p14:sldId id="257"/>
          </p14:sldIdLst>
        </p14:section>
        <p14:section name="Categories, routing and models" id="{fa77e917-a374-a060-7539-e5b3242652de}">
          <p14:sldIdLst>
            <p14:sldId id="258"/>
          </p14:sldIdLst>
        </p14:section>
        <p14:section name="Synthetic data and test plan" id="{069ac01a-8fa2-1849-fc55-b6e413a2c28b}">
          <p14:sldIdLst>
            <p14:sldId id="259"/>
          </p14:sldIdLst>
        </p14:section>
        <p14:section name="Risks, plan and repo" id="{a613e658-e421-144b-e08d-e40c5bca51d2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we design for: a Level-1 support agent. 100–150 tickets a day comes from talking with support staff at a few private-sector companies. The goal is sorting and first drafts, with a human always approving.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steps. Only two use an LLM in the live pipeline: Haiku 5.5 classifies and extracts, Sonnet 5.5 drafts. Everything else is plain rules a reviewer can read. Opus 5.5 only appears in the development loop. The draft only uses facts from our policy table, so it never promises something like a timeline the model made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categories, 23 subcategories, each mapped to a team by a rule. Overlapping pairs were merged on purpose: failed and pending transfers became one subcategory, and any unrecognized charge goes to Fraud. Priority is a readable severity table plus a few signals. Models are swappable from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400 tickets so each test set has enough examples per subcategory: 23 subcategories times 3 is 69, under 80. A different model writes the data than the one classifying it, so results are not inflated. The key number is accuracy on the tickets the system did not escalate: escalating is the safe failure, so when it does not ask for help it should be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risks, each with a concrete handling; these become the documented failure modes for the progress review. The plan runs to the MVP on 8 November, with a cut list if time runs short. The demo app has a paste-a-ticket box so judges can try their own input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6720" y="660380"/>
            <a:ext cx="952530" cy="558790"/>
          </a:xfrm>
          <a:prstGeom prst="rect">
            <a:avLst>
              <a:gd name="adj" fmla="val 9818"/>
            </a:avLst>
          </a:prstGeom>
          <a:solidFill>
            <a:srgbClr val="0B7A85"/>
          </a:solidFill>
          <a:ln/>
        </p:spPr>
      </p:sp>
      <p:sp>
        <p:nvSpPr>
          <p:cNvPr id="3" name="Text 1"/>
          <p:cNvSpPr/>
          <p:nvPr/>
        </p:nvSpPr>
        <p:spPr>
          <a:xfrm>
            <a:off x="10426720" y="660380"/>
            <a:ext cx="952530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6F5"/>
                </a:solidFill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10" y="6286500"/>
            <a:ext cx="825502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E73"/>
                </a:solidFill>
              </a:rPr>
              <a:t>Salih Safaa Mohammed · Topic 06: Support Pipeline Automation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12810" y="660380"/>
            <a:ext cx="9271010" cy="67309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10282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6720" y="660380"/>
            <a:ext cx="952530" cy="558790"/>
          </a:xfrm>
          <a:prstGeom prst="rect">
            <a:avLst>
              <a:gd name="adj" fmla="val 9818"/>
            </a:avLst>
          </a:prstGeom>
          <a:solidFill>
            <a:srgbClr val="0B7A85"/>
          </a:solidFill>
          <a:ln/>
        </p:spPr>
      </p:sp>
      <p:sp>
        <p:nvSpPr>
          <p:cNvPr id="3" name="Text 1"/>
          <p:cNvSpPr/>
          <p:nvPr/>
        </p:nvSpPr>
        <p:spPr>
          <a:xfrm>
            <a:off x="10426720" y="660380"/>
            <a:ext cx="952530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6F5"/>
                </a:solidFill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10" y="6286500"/>
            <a:ext cx="825502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E73"/>
                </a:solidFill>
              </a:rPr>
              <a:t>Salih Safaa Mohammed · Topic 06: Support Pipeline Automation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12810" y="660380"/>
            <a:ext cx="9271010" cy="44449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0282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6720" y="660380"/>
            <a:ext cx="952530" cy="558790"/>
          </a:xfrm>
          <a:prstGeom prst="rect">
            <a:avLst>
              <a:gd name="adj" fmla="val 9818"/>
            </a:avLst>
          </a:prstGeom>
          <a:solidFill>
            <a:srgbClr val="17C3A2"/>
          </a:solidFill>
          <a:ln/>
        </p:spPr>
      </p:sp>
      <p:sp>
        <p:nvSpPr>
          <p:cNvPr id="3" name="Text 1"/>
          <p:cNvSpPr/>
          <p:nvPr/>
        </p:nvSpPr>
        <p:spPr>
          <a:xfrm>
            <a:off x="10426720" y="660380"/>
            <a:ext cx="952530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2A2E"/>
                </a:solidFill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10" y="6286500"/>
            <a:ext cx="825502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3C0"/>
                </a:solidFill>
              </a:rPr>
              <a:t>Salih Safaa Mohammed · Topic 06: Support Pipeline Automation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12810" y="660380"/>
            <a:ext cx="9271010" cy="44449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3F6F5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A9C3C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Death-Scythe/Support-Pipeline-Automation" TargetMode="External"/><Relationship Id="rId2" Type="http://schemas.openxmlformats.org/officeDocument/2006/relationships/hyperlink" Target="https://github.com/SDeath-Scythe/Support-Pipeline-Automation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12810" y="660380"/>
            <a:ext cx="9271010" cy="67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82F"/>
                </a:solidFill>
              </a:rPr>
              <a:t>Support Pipeline Automation</a:t>
            </a:r>
            <a:endParaRPr lang="en-US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812810" y="1409730"/>
            <a:ext cx="9271010" cy="469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F64"/>
                </a:solidFill>
              </a:rPr>
              <a:t>A batch pipeline that sorts support tickets written in Iraqi dialect and pre-drafts the replies, so people spend their time on the hard ones.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2810" y="2051091"/>
            <a:ext cx="3810030" cy="3790920"/>
          </a:xfrm>
          <a:prstGeom prst="roundRect">
            <a:avLst>
              <a:gd name="adj" fmla="val 2653"/>
            </a:avLst>
          </a:prstGeom>
          <a:solidFill>
            <a:srgbClr val="10282F"/>
          </a:solidFill>
          <a:ln/>
        </p:spPr>
      </p:sp>
      <p:sp>
        <p:nvSpPr>
          <p:cNvPr id="5" name="User label"/>
          <p:cNvSpPr txBox="1"/>
          <p:nvPr/>
        </p:nvSpPr>
        <p:spPr>
          <a:xfrm>
            <a:off x="1066830" y="2305020"/>
            <a:ext cx="330199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D3B3"/>
                </a:solidFill>
              </a:rPr>
              <a:t>THE USER</a:t>
            </a:r>
            <a:endParaRPr lang="en-US" sz="1200" dirty="0"/>
          </a:p>
        </p:txBody>
      </p:sp>
      <p:sp>
        <p:nvSpPr>
          <p:cNvPr id="6" name="User"/>
          <p:cNvSpPr txBox="1"/>
          <p:nvPr/>
        </p:nvSpPr>
        <p:spPr>
          <a:xfrm>
            <a:off x="1066830" y="2571750"/>
            <a:ext cx="330199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1EF"/>
                </a:solidFill>
              </a:rPr>
              <a:t>A Level-1 support agent at a private-sector company</a:t>
            </a:r>
            <a:endParaRPr lang="en-US" sz="1500" dirty="0"/>
          </a:p>
        </p:txBody>
      </p:sp>
      <p:sp>
        <p:nvSpPr>
          <p:cNvPr id="7" name="Ticket volume"/>
          <p:cNvSpPr txBox="1"/>
          <p:nvPr/>
        </p:nvSpPr>
        <p:spPr>
          <a:xfrm>
            <a:off x="1066830" y="3886200"/>
            <a:ext cx="330199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FD3B3"/>
                </a:solidFill>
              </a:rPr>
              <a:t>100–150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066830" y="4584710"/>
            <a:ext cx="330199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1EF"/>
                </a:solidFill>
              </a:rPr>
              <a:t>tickets a day per agent, sometimes fewer, sometimes more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6830" y="5130790"/>
            <a:ext cx="3301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C3C0"/>
                </a:solidFill>
              </a:rPr>
              <a:t>From conversations with support staff at a few private-sector companies</a:t>
            </a:r>
            <a:endParaRPr lang="en-US" sz="1200" dirty="0"/>
          </a:p>
        </p:txBody>
      </p:sp>
      <p:sp>
        <p:nvSpPr>
          <p:cNvPr id="10" name="Problem heading"/>
          <p:cNvSpPr txBox="1"/>
          <p:nvPr/>
        </p:nvSpPr>
        <p:spPr>
          <a:xfrm>
            <a:off x="4826020" y="2051091"/>
            <a:ext cx="65532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82F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11" name="Problem points"/>
          <p:cNvSpPr txBox="1"/>
          <p:nvPr/>
        </p:nvSpPr>
        <p:spPr>
          <a:xfrm>
            <a:off x="4826020" y="2406609"/>
            <a:ext cx="655323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74D"/>
                </a:solidFill>
              </a:rPr>
              <a:t>Most tickets repeat: failed transfers, wrong recipients, login and OTP problems, agent disputes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74D"/>
                </a:solidFill>
              </a:rPr>
              <a:t>For every ticket the agent reads the dialect, works out the issue, finds the reference, routes it and writes a reply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74D"/>
                </a:solidFill>
              </a:rPr>
              <a:t>The queue grows faster than the team can clear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26020" y="4495830"/>
            <a:ext cx="6553230" cy="1346180"/>
          </a:xfrm>
          <a:prstGeom prst="roundRect">
            <a:avLst>
              <a:gd name="adj" fmla="val 7472"/>
            </a:avLst>
          </a:prstGeom>
          <a:solidFill>
            <a:srgbClr val="17C3A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4673590"/>
            <a:ext cx="614678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2E"/>
                </a:solidFill>
              </a:rPr>
              <a:t>OUR GOAL</a:t>
            </a:r>
            <a:endParaRPr lang="en-US" sz="1200" dirty="0"/>
          </a:p>
        </p:txBody>
      </p:sp>
      <p:sp>
        <p:nvSpPr>
          <p:cNvPr id="14" name="Goal"/>
          <p:cNvSpPr txBox="1"/>
          <p:nvPr/>
        </p:nvSpPr>
        <p:spPr>
          <a:xfrm>
            <a:off x="5029200" y="4914900"/>
            <a:ext cx="614678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2A2E"/>
                </a:solidFill>
              </a:rPr>
              <a:t>The pipeline sorts every ticket and writes a first draft. A human approves it, edits it, or takes over the hard ones. Nothing is ever sent automatically.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12810" y="660380"/>
            <a:ext cx="927101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82F"/>
                </a:solidFill>
              </a:rPr>
              <a:t>How it works, end to 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1168420"/>
            <a:ext cx="939802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F64"/>
                </a:solidFill>
              </a:rPr>
              <a:t>A fixed workflow, not a free-roaming agent: predictable and testable. LLMs only where judgment is needed.</a:t>
            </a:r>
            <a:endParaRPr lang="en-US" sz="1200" dirty="0"/>
          </a:p>
        </p:txBody>
      </p:sp>
      <p:sp>
        <p:nvSpPr>
          <p:cNvPr id="4" name="Step 1"/>
          <p:cNvSpPr/>
          <p:nvPr/>
        </p:nvSpPr>
        <p:spPr>
          <a:xfrm>
            <a:off x="812810" y="1441460"/>
            <a:ext cx="1225570" cy="863559"/>
          </a:xfrm>
          <a:prstGeom prst="roundRect">
            <a:avLst>
              <a:gd name="adj" fmla="val 8471"/>
            </a:avLst>
          </a:prstGeom>
          <a:solidFill>
            <a:srgbClr val="FBFCFC"/>
          </a:solidFill>
          <a:ln w="19050">
            <a:solidFill>
              <a:srgbClr val="0B7A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41460"/>
            <a:ext cx="1022391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282F"/>
                </a:solidFill>
              </a:rPr>
              <a:t>Ticket batch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B7A85"/>
                </a:solidFill>
              </a:rPr>
              <a:t>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14550" y="1828800"/>
            <a:ext cx="177759" cy="88880"/>
          </a:xfrm>
          <a:prstGeom prst="rightArrow">
            <a:avLst/>
          </a:prstGeom>
          <a:solidFill>
            <a:srgbClr val="0B7A85"/>
          </a:solidFill>
          <a:ln/>
        </p:spPr>
      </p:sp>
      <p:sp>
        <p:nvSpPr>
          <p:cNvPr id="7" name="Step 2"/>
          <p:cNvSpPr/>
          <p:nvPr/>
        </p:nvSpPr>
        <p:spPr>
          <a:xfrm>
            <a:off x="2368570" y="1441460"/>
            <a:ext cx="1225570" cy="863559"/>
          </a:xfrm>
          <a:prstGeom prst="roundRect">
            <a:avLst>
              <a:gd name="adj" fmla="val 8471"/>
            </a:avLst>
          </a:prstGeom>
          <a:solidFill>
            <a:srgbClr val="FBFCFC"/>
          </a:solidFill>
          <a:ln w="19050">
            <a:solidFill>
              <a:srgbClr val="0B7A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70160" y="1441460"/>
            <a:ext cx="1022391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282F"/>
                </a:solidFill>
              </a:rPr>
              <a:t>Clean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B7A85"/>
                </a:solidFill>
              </a:rPr>
              <a:t>Rules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70310" y="1828800"/>
            <a:ext cx="177759" cy="88880"/>
          </a:xfrm>
          <a:prstGeom prst="rightArrow">
            <a:avLst/>
          </a:prstGeom>
          <a:solidFill>
            <a:srgbClr val="0B7A85"/>
          </a:solidFill>
          <a:ln/>
        </p:spPr>
      </p:sp>
      <p:sp>
        <p:nvSpPr>
          <p:cNvPr id="10" name="Step 3"/>
          <p:cNvSpPr/>
          <p:nvPr/>
        </p:nvSpPr>
        <p:spPr>
          <a:xfrm>
            <a:off x="3924330" y="1441460"/>
            <a:ext cx="1225570" cy="863559"/>
          </a:xfrm>
          <a:prstGeom prst="roundRect">
            <a:avLst>
              <a:gd name="adj" fmla="val 8471"/>
            </a:avLst>
          </a:prstGeom>
          <a:solidFill>
            <a:srgbClr val="0B7A8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25920" y="1441460"/>
            <a:ext cx="1022391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3F6F5"/>
                </a:solidFill>
              </a:rPr>
              <a:t>Classify + extract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DEDEA"/>
                </a:solidFill>
              </a:rPr>
              <a:t>Haiku 5.5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26070" y="1828800"/>
            <a:ext cx="177759" cy="88880"/>
          </a:xfrm>
          <a:prstGeom prst="rightArrow">
            <a:avLst/>
          </a:prstGeom>
          <a:solidFill>
            <a:srgbClr val="0B7A85"/>
          </a:solidFill>
          <a:ln/>
        </p:spPr>
      </p:sp>
      <p:sp>
        <p:nvSpPr>
          <p:cNvPr id="13" name="Step 4"/>
          <p:cNvSpPr/>
          <p:nvPr/>
        </p:nvSpPr>
        <p:spPr>
          <a:xfrm>
            <a:off x="5480091" y="1441460"/>
            <a:ext cx="1225570" cy="863559"/>
          </a:xfrm>
          <a:prstGeom prst="roundRect">
            <a:avLst>
              <a:gd name="adj" fmla="val 8471"/>
            </a:avLst>
          </a:prstGeom>
          <a:solidFill>
            <a:srgbClr val="FBFCFC"/>
          </a:solidFill>
          <a:ln w="19050">
            <a:solidFill>
              <a:srgbClr val="0B7A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81680" y="1441460"/>
            <a:ext cx="1022391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282F"/>
                </a:solidFill>
              </a:rPr>
              <a:t>Confidence gate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B7A85"/>
                </a:solidFill>
              </a:rPr>
              <a:t>Rules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81830" y="1828800"/>
            <a:ext cx="177759" cy="88880"/>
          </a:xfrm>
          <a:prstGeom prst="rightArrow">
            <a:avLst/>
          </a:prstGeom>
          <a:solidFill>
            <a:srgbClr val="0B7A85"/>
          </a:solidFill>
          <a:ln/>
        </p:spPr>
      </p:sp>
      <p:sp>
        <p:nvSpPr>
          <p:cNvPr id="16" name="Step 5"/>
          <p:cNvSpPr/>
          <p:nvPr/>
        </p:nvSpPr>
        <p:spPr>
          <a:xfrm>
            <a:off x="7035759" y="1441460"/>
            <a:ext cx="1225570" cy="863559"/>
          </a:xfrm>
          <a:prstGeom prst="roundRect">
            <a:avLst>
              <a:gd name="adj" fmla="val 8471"/>
            </a:avLst>
          </a:prstGeom>
          <a:solidFill>
            <a:srgbClr val="FBFCFC"/>
          </a:solidFill>
          <a:ln w="19050">
            <a:solidFill>
              <a:srgbClr val="0B7A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7441" y="1441460"/>
            <a:ext cx="1022391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282F"/>
                </a:solidFill>
              </a:rPr>
              <a:t>Route + priority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B7A85"/>
                </a:solidFill>
              </a:rPr>
              <a:t>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37591" y="1828800"/>
            <a:ext cx="177759" cy="88880"/>
          </a:xfrm>
          <a:prstGeom prst="rightArrow">
            <a:avLst/>
          </a:prstGeom>
          <a:solidFill>
            <a:srgbClr val="0B7A85"/>
          </a:solidFill>
          <a:ln/>
        </p:spPr>
      </p:sp>
      <p:sp>
        <p:nvSpPr>
          <p:cNvPr id="19" name="Step 6"/>
          <p:cNvSpPr/>
          <p:nvPr/>
        </p:nvSpPr>
        <p:spPr>
          <a:xfrm>
            <a:off x="8591520" y="1441460"/>
            <a:ext cx="1225570" cy="863559"/>
          </a:xfrm>
          <a:prstGeom prst="roundRect">
            <a:avLst>
              <a:gd name="adj" fmla="val 8471"/>
            </a:avLst>
          </a:prstGeom>
          <a:solidFill>
            <a:srgbClr val="0B7A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93109" y="1441460"/>
            <a:ext cx="1022391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3F6F5"/>
                </a:solidFill>
              </a:rPr>
              <a:t>Draft reply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DEDEA"/>
                </a:solidFill>
              </a:rPr>
              <a:t>Sonnet 5.5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93259" y="1828800"/>
            <a:ext cx="177759" cy="88880"/>
          </a:xfrm>
          <a:prstGeom prst="rightArrow">
            <a:avLst/>
          </a:prstGeom>
          <a:solidFill>
            <a:srgbClr val="0B7A85"/>
          </a:solidFill>
          <a:ln/>
        </p:spPr>
      </p:sp>
      <p:sp>
        <p:nvSpPr>
          <p:cNvPr id="22" name="Step 7"/>
          <p:cNvSpPr/>
          <p:nvPr/>
        </p:nvSpPr>
        <p:spPr>
          <a:xfrm>
            <a:off x="10147280" y="1441460"/>
            <a:ext cx="1225570" cy="863559"/>
          </a:xfrm>
          <a:prstGeom prst="roundRect">
            <a:avLst>
              <a:gd name="adj" fmla="val 8471"/>
            </a:avLst>
          </a:prstGeom>
          <a:solidFill>
            <a:srgbClr val="17C3A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48870" y="1441460"/>
            <a:ext cx="1022391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2A2E"/>
                </a:solidFill>
              </a:rPr>
              <a:t>Human review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E2A2E"/>
                </a:solidFill>
              </a:rPr>
              <a:t>Approve, edit</a:t>
            </a:r>
            <a:endParaRPr lang="en-US" sz="1200" dirty="0"/>
          </a:p>
        </p:txBody>
      </p:sp>
      <p:sp>
        <p:nvSpPr>
          <p:cNvPr id="24" name="Escalation arrow"/>
          <p:cNvSpPr/>
          <p:nvPr/>
        </p:nvSpPr>
        <p:spPr>
          <a:xfrm>
            <a:off x="6115050" y="2413010"/>
            <a:ext cx="101590" cy="203180"/>
          </a:xfrm>
          <a:prstGeom prst="downArrow">
            <a:avLst/>
          </a:prstGeom>
          <a:solidFill>
            <a:srgbClr val="B5532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92809" y="2381280"/>
            <a:ext cx="4063959" cy="266730"/>
          </a:xfrm>
          <a:prstGeom prst="roundRect">
            <a:avLst>
              <a:gd name="adj" fmla="val 17141"/>
            </a:avLst>
          </a:prstGeom>
          <a:solidFill>
            <a:srgbClr val="FBE7DC"/>
          </a:solidFill>
          <a:ln/>
        </p:spPr>
      </p:sp>
      <p:sp>
        <p:nvSpPr>
          <p:cNvPr id="26" name="Escalation branch"/>
          <p:cNvSpPr txBox="1"/>
          <p:nvPr/>
        </p:nvSpPr>
        <p:spPr>
          <a:xfrm>
            <a:off x="6369070" y="2381280"/>
            <a:ext cx="391162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418"/>
                </a:solidFill>
              </a:rPr>
              <a:t>Low confidence or fraud → escalated with a note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10" y="2724180"/>
            <a:ext cx="4419570" cy="1346180"/>
          </a:xfrm>
          <a:prstGeom prst="roundRect">
            <a:avLst>
              <a:gd name="adj" fmla="val 7472"/>
            </a:avLst>
          </a:prstGeom>
          <a:solidFill>
            <a:srgbClr val="FBFCFC"/>
          </a:solidFill>
          <a:ln w="9525">
            <a:solidFill>
              <a:srgbClr val="DCE5E3"/>
            </a:solidFill>
            <a:prstDash val="solid"/>
          </a:ln>
        </p:spPr>
      </p:sp>
      <p:sp>
        <p:nvSpPr>
          <p:cNvPr id="28" name="Confidence gate"/>
          <p:cNvSpPr txBox="1"/>
          <p:nvPr/>
        </p:nvSpPr>
        <p:spPr>
          <a:xfrm>
            <a:off x="965241" y="2863809"/>
            <a:ext cx="4114800" cy="106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282F"/>
                </a:solidFill>
              </a:rPr>
              <a:t>Confidence gate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74D"/>
                </a:solidFill>
              </a:rPr>
              <a:t>Calibrated score, lowered if a rule disagrees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74D"/>
                </a:solidFill>
              </a:rPr>
              <a:t>Above 0.75 → continues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74D"/>
                </a:solidFill>
              </a:rPr>
              <a:t>0.6–0.75 or high-risk → Sonnet re-checks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74D"/>
                </a:solidFill>
              </a:rPr>
              <a:t>Under 0.6, or Sonnet disagrees → escalate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59390" y="2724180"/>
            <a:ext cx="2946380" cy="1346180"/>
          </a:xfrm>
          <a:prstGeom prst="roundRect">
            <a:avLst>
              <a:gd name="adj" fmla="val 7472"/>
            </a:avLst>
          </a:prstGeom>
          <a:solidFill>
            <a:srgbClr val="FBFCFC"/>
          </a:solidFill>
          <a:ln w="9525">
            <a:solidFill>
              <a:srgbClr val="DCE5E3"/>
            </a:solidFill>
            <a:prstDash val="solid"/>
          </a:ln>
        </p:spPr>
      </p:sp>
      <p:sp>
        <p:nvSpPr>
          <p:cNvPr id="30" name="Outcomes"/>
          <p:cNvSpPr txBox="1"/>
          <p:nvPr/>
        </p:nvSpPr>
        <p:spPr>
          <a:xfrm>
            <a:off x="5511820" y="2863809"/>
            <a:ext cx="2641610" cy="106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282F"/>
                </a:solidFill>
              </a:rPr>
              <a:t>Three outcomes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33474D"/>
                </a:solidFill>
              </a:rPr>
              <a:t>Drafted: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74D"/>
                </a:solidFill>
              </a:rPr>
              <a:t>ready to approve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33474D"/>
                </a:solidFill>
              </a:rPr>
              <a:t>Flagged: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74D"/>
                </a:solidFill>
              </a:rPr>
              <a:t>one field to check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33474D"/>
                </a:solidFill>
              </a:rPr>
              <a:t>Escalated: </a:t>
            </a:r>
            <a:pPr indent="0" marL="0">
              <a:buNone/>
            </a:pPr>
            <a:r>
              <a:rPr lang="en-US" sz="1200" dirty="0">
                <a:solidFill>
                  <a:srgbClr val="33474D"/>
                </a:solidFill>
              </a:rPr>
              <a:t>no draft, a note why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432780" y="2724180"/>
            <a:ext cx="2946380" cy="1346180"/>
          </a:xfrm>
          <a:prstGeom prst="roundRect">
            <a:avLst>
              <a:gd name="adj" fmla="val 7472"/>
            </a:avLst>
          </a:prstGeom>
          <a:solidFill>
            <a:srgbClr val="10282F"/>
          </a:solidFill>
          <a:ln/>
        </p:spPr>
      </p:sp>
      <p:sp>
        <p:nvSpPr>
          <p:cNvPr id="32" name="Dev loop"/>
          <p:cNvSpPr txBox="1"/>
          <p:nvPr/>
        </p:nvSpPr>
        <p:spPr>
          <a:xfrm>
            <a:off x="8585210" y="2863809"/>
            <a:ext cx="2641610" cy="106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FD3B3"/>
                </a:solidFill>
              </a:rPr>
              <a:t>Dev loop, never live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</a:rPr>
              <a:t>Opus 5.5 evaluation agent: scores outputs and drafts on the dev set, lists failures to fix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12810" y="4146530"/>
            <a:ext cx="10566441" cy="1695480"/>
          </a:xfrm>
          <a:prstGeom prst="roundRect">
            <a:avLst>
              <a:gd name="adj" fmla="val 5932"/>
            </a:avLst>
          </a:prstGeom>
          <a:solidFill>
            <a:srgbClr val="FBFCFC"/>
          </a:solidFill>
          <a:ln w="9525">
            <a:solidFill>
              <a:srgbClr val="DCE5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0570" y="4641860"/>
            <a:ext cx="371475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85"/>
                </a:solidFill>
              </a:rPr>
              <a:t>INCOMING TICKET</a:t>
            </a:r>
            <a:endParaRPr lang="en-US" sz="1200" dirty="0"/>
          </a:p>
        </p:txBody>
      </p:sp>
      <p:sp>
        <p:nvSpPr>
          <p:cNvPr id="35" name="Arabic ticket"/>
          <p:cNvSpPr txBox="1"/>
          <p:nvPr/>
        </p:nvSpPr>
        <p:spPr>
          <a:xfrm>
            <a:off x="990570" y="4883170"/>
            <a:ext cx="371475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IQ" altLang="en-US" sz="1400" dirty="0">
                <a:solidFill>
                  <a:srgbClr val="10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حولت 50 الف دينار الصبح وما وصلت لصديقي، رقم العملية 88213</a:t>
            </a:r>
            <a:endParaRPr lang="ar-IQ" sz="1400" dirty="0"/>
          </a:p>
        </p:txBody>
      </p:sp>
      <p:sp>
        <p:nvSpPr>
          <p:cNvPr id="36" name="Shape 34"/>
          <p:cNvSpPr/>
          <p:nvPr/>
        </p:nvSpPr>
        <p:spPr>
          <a:xfrm>
            <a:off x="4857750" y="4927610"/>
            <a:ext cx="254020" cy="127010"/>
          </a:xfrm>
          <a:prstGeom prst="rightArrow">
            <a:avLst/>
          </a:prstGeom>
          <a:solidFill>
            <a:srgbClr val="0B7A85"/>
          </a:solidFill>
          <a:ln/>
        </p:spPr>
      </p:sp>
      <p:sp>
        <p:nvSpPr>
          <p:cNvPr id="37" name="Shape 35"/>
          <p:cNvSpPr/>
          <p:nvPr/>
        </p:nvSpPr>
        <p:spPr>
          <a:xfrm>
            <a:off x="5264109" y="4298960"/>
            <a:ext cx="5937291" cy="1390620"/>
          </a:xfrm>
          <a:prstGeom prst="roundRect">
            <a:avLst>
              <a:gd name="adj" fmla="val 7233"/>
            </a:avLst>
          </a:prstGeom>
          <a:solidFill>
            <a:srgbClr val="1028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16540" y="4400550"/>
            <a:ext cx="563243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D3B3"/>
                </a:solidFill>
              </a:rPr>
              <a:t>PIPELINE OUTPUT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16540" y="4616440"/>
            <a:ext cx="563243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EF"/>
                </a:solidFill>
              </a:rPr>
              <a:t>Transfers › Not received · P2 · ref 88213 · 50,000 IQD · confidence 0.94 → Transfers team · Drafted</a:t>
            </a:r>
            <a:endParaRPr lang="en-US" sz="1200" dirty="0"/>
          </a:p>
        </p:txBody>
      </p:sp>
      <p:sp>
        <p:nvSpPr>
          <p:cNvPr id="40" name="Arabic draft"/>
          <p:cNvSpPr txBox="1"/>
          <p:nvPr/>
        </p:nvSpPr>
        <p:spPr>
          <a:xfrm>
            <a:off x="5416540" y="5035509"/>
            <a:ext cx="56324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IQ" altLang="en-US" sz="1400" dirty="0">
                <a:solidFill>
                  <a:srgbClr val="E8F1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هلا بيك، استلمنا طلبك رقم 88213 وحولناه لقسم التحويلات</a:t>
            </a:r>
            <a:endParaRPr lang="ar-IQ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16540" y="5353080"/>
            <a:ext cx="56324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D3B3"/>
                </a:solidFill>
              </a:rPr>
              <a:t>Grounded: drafts use only facts from our policy 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12810" y="660380"/>
            <a:ext cx="927101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82F"/>
                </a:solidFill>
              </a:rPr>
              <a:t>Categories, routing and models</a:t>
            </a:r>
            <a:endParaRPr lang="en-US" sz="2800" dirty="0"/>
          </a:p>
        </p:txBody>
      </p:sp>
      <p:graphicFrame>
        <p:nvGraphicFramePr>
          <p:cNvPr id="4" name="Catego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193841"/>
          <a:ext cx="10566441" cy="914400"/>
        </p:xfrm>
        <a:graphic>
          <a:graphicData uri="http://schemas.openxmlformats.org/drawingml/2006/table">
            <a:tbl>
              <a:tblPr/>
              <a:tblGrid>
                <a:gridCol w="2324130"/>
                <a:gridCol w="6127760"/>
                <a:gridCol w="2114550"/>
              </a:tblGrid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6F5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6F5"/>
                          </a:solidFill>
                        </a:rPr>
                        <a:t>Subcategories (23 in total)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6F5"/>
                          </a:solidFill>
                        </a:rPr>
                        <a:t>Routes to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Transfers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Not received or deducted · Wrong recipient · Reversal request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Transfers team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Account &amp; access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Login / OTP · Forgot PIN · Blocked account · SIM change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Accounts team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Verification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Rejected or pending · Limit upgrade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Onboarding team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Agents &amp; cash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Overcharged fee · Cash-in not credited · Cash-out refused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Agent network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Cards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Card payment failed · Delivery or activation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Cards team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Bills &amp; top-up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Bill paid, not reflected · Top-up failed · Merchant payment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Bills team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Fraud &amp; security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Suspected scam / OTP shared · Unauthorized or unknown charge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Fraud team · P1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C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General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App bug · Fees &amp; limits question · Complaint · Unclear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General queue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</a:tbl>
          </a:graphicData>
        </a:graphic>
      </p:graphicFrame>
      <p:sp>
        <p:nvSpPr>
          <p:cNvPr id="4" name="Priority rules"/>
          <p:cNvSpPr txBox="1"/>
          <p:nvPr/>
        </p:nvSpPr>
        <p:spPr>
          <a:xfrm>
            <a:off x="812810" y="3949659"/>
            <a:ext cx="10566441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A5F64"/>
                </a:solidFill>
              </a:rPr>
              <a:t>Priority P1–P3: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F64"/>
                </a:solidFill>
              </a:rPr>
              <a:t>severity table, raised for large amounts, repeat contact or urgent words ·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A5F64"/>
                </a:solidFill>
              </a:rPr>
              <a:t>Fraud: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F64"/>
                </a:solidFill>
              </a:rPr>
              <a:t>always P1, always escalated ·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A5F64"/>
                </a:solidFill>
              </a:rPr>
              <a:t>Two issues: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F64"/>
                </a:solidFill>
              </a:rPr>
              <a:t>primary + secondary category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12810" y="4667280"/>
            <a:ext cx="2546330" cy="1174730"/>
          </a:xfrm>
          <a:prstGeom prst="roundRect">
            <a:avLst>
              <a:gd name="adj" fmla="val 8562"/>
            </a:avLst>
          </a:prstGeom>
          <a:solidFill>
            <a:srgbClr val="0B7A85"/>
          </a:solidFill>
          <a:ln/>
        </p:spPr>
      </p:sp>
      <p:sp>
        <p:nvSpPr>
          <p:cNvPr id="6" name="Haiku 5.5"/>
          <p:cNvSpPr txBox="1"/>
          <p:nvPr/>
        </p:nvSpPr>
        <p:spPr>
          <a:xfrm>
            <a:off x="965241" y="4794291"/>
            <a:ext cx="2241560" cy="92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F6F5"/>
                </a:solidFill>
              </a:rPr>
              <a:t>Haiku 5.5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3F4F2"/>
                </a:solidFill>
              </a:rPr>
              <a:t>Classifies and extracts every ticket, as JSON checked against a schema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86150" y="4667280"/>
            <a:ext cx="2546330" cy="1174730"/>
          </a:xfrm>
          <a:prstGeom prst="roundRect">
            <a:avLst>
              <a:gd name="adj" fmla="val 8562"/>
            </a:avLst>
          </a:prstGeom>
          <a:solidFill>
            <a:srgbClr val="0B7A85"/>
          </a:solidFill>
          <a:ln/>
        </p:spPr>
      </p:sp>
      <p:sp>
        <p:nvSpPr>
          <p:cNvPr id="8" name="Sonnet 5.5"/>
          <p:cNvSpPr txBox="1"/>
          <p:nvPr/>
        </p:nvSpPr>
        <p:spPr>
          <a:xfrm>
            <a:off x="3638580" y="4794291"/>
            <a:ext cx="2241560" cy="92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F6F5"/>
                </a:solidFill>
              </a:rPr>
              <a:t>Sonnet 5.5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3F4F2"/>
                </a:solidFill>
              </a:rPr>
              <a:t>Writes the Iraqi-dialect drafts and re-checks borderline and high-risk tickets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59490" y="4667280"/>
            <a:ext cx="2546330" cy="1174730"/>
          </a:xfrm>
          <a:prstGeom prst="roundRect">
            <a:avLst>
              <a:gd name="adj" fmla="val 8562"/>
            </a:avLst>
          </a:prstGeom>
          <a:solidFill>
            <a:srgbClr val="10282F"/>
          </a:solidFill>
          <a:ln/>
        </p:spPr>
      </p:sp>
      <p:sp>
        <p:nvSpPr>
          <p:cNvPr id="10" name="Opus 5.5"/>
          <p:cNvSpPr txBox="1"/>
          <p:nvPr/>
        </p:nvSpPr>
        <p:spPr>
          <a:xfrm>
            <a:off x="6311920" y="4794291"/>
            <a:ext cx="2241560" cy="92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FD3B3"/>
                </a:solidFill>
              </a:rPr>
              <a:t>Opus 5.5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</a:rPr>
              <a:t>Dev only: generates the synthetic tickets and evaluates outputs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832830" y="4667280"/>
            <a:ext cx="2546330" cy="1174730"/>
          </a:xfrm>
          <a:prstGeom prst="roundRect">
            <a:avLst>
              <a:gd name="adj" fmla="val 8562"/>
            </a:avLst>
          </a:prstGeom>
          <a:solidFill>
            <a:srgbClr val="FBFCFC"/>
          </a:solidFill>
          <a:ln w="19050">
            <a:solidFill>
              <a:srgbClr val="0B7A85"/>
            </a:solidFill>
            <a:prstDash val="solid"/>
          </a:ln>
        </p:spPr>
      </p:sp>
      <p:sp>
        <p:nvSpPr>
          <p:cNvPr id="12" name="Swappable"/>
          <p:cNvSpPr txBox="1"/>
          <p:nvPr/>
        </p:nvSpPr>
        <p:spPr>
          <a:xfrm>
            <a:off x="8985260" y="4794291"/>
            <a:ext cx="2241560" cy="92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0282F"/>
                </a:solidFill>
              </a:rPr>
              <a:t>Swappable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74D"/>
                </a:solidFill>
              </a:rPr>
              <a:t>Each role reads its model from config, so any model swaps with one 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12810" y="660380"/>
            <a:ext cx="927101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6F5"/>
                </a:solidFill>
              </a:rPr>
              <a:t>Synthetic data and test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10" y="1193841"/>
            <a:ext cx="4826020" cy="4648170"/>
          </a:xfrm>
          <a:prstGeom prst="roundRect">
            <a:avLst>
              <a:gd name="adj" fmla="val 2164"/>
            </a:avLst>
          </a:prstGeom>
          <a:solidFill>
            <a:srgbClr val="173840"/>
          </a:solidFill>
          <a:ln w="9525">
            <a:solidFill>
              <a:srgbClr val="2450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0570" y="1371600"/>
            <a:ext cx="44704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D3B3"/>
                </a:solidFill>
              </a:rPr>
              <a:t>400 synthetic tickets</a:t>
            </a:r>
            <a:endParaRPr lang="en-US" sz="1500" dirty="0"/>
          </a:p>
        </p:txBody>
      </p:sp>
      <p:sp>
        <p:nvSpPr>
          <p:cNvPr id="5" name="Data points"/>
          <p:cNvSpPr txBox="1"/>
          <p:nvPr/>
        </p:nvSpPr>
        <p:spPr>
          <a:xfrm>
            <a:off x="990570" y="1701790"/>
            <a:ext cx="447041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1EF"/>
                </a:solidFill>
              </a:rPr>
              <a:t>Opus 5.5 writes them from a spec: subcategory × dialect × style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1EF"/>
                </a:solidFill>
              </a:rPr>
              <a:t>Baghdadi, southern, Mosuli; Arabizi, mixed English, typos, voice-note style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1EF"/>
                </a:solidFill>
              </a:rPr>
              <a:t>Edge cases: missing or fake ref, two issues, off-topic, prompt injection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1EF"/>
                </a:solidFill>
              </a:rPr>
              <a:t>Labeled for category, subcategory, priority, ref, amount, date; 80 hand-checked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0570" y="4381530"/>
            <a:ext cx="2651760" cy="546080"/>
          </a:xfrm>
          <a:prstGeom prst="roundRect">
            <a:avLst>
              <a:gd name="adj" fmla="val 8372"/>
            </a:avLst>
          </a:prstGeom>
          <a:solidFill>
            <a:srgbClr val="0B7A85"/>
          </a:solidFill>
          <a:ln/>
        </p:spPr>
      </p:sp>
      <p:sp>
        <p:nvSpPr>
          <p:cNvPr id="7" name="Split Dev · 240"/>
          <p:cNvSpPr txBox="1"/>
          <p:nvPr/>
        </p:nvSpPr>
        <p:spPr>
          <a:xfrm>
            <a:off x="1066830" y="4381530"/>
            <a:ext cx="2499330" cy="54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6F5"/>
                </a:solidFill>
              </a:rPr>
              <a:t>Dev · 240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67750" y="4381530"/>
            <a:ext cx="883950" cy="546080"/>
          </a:xfrm>
          <a:prstGeom prst="roundRect">
            <a:avLst>
              <a:gd name="adj" fmla="val 8372"/>
            </a:avLst>
          </a:prstGeom>
          <a:solidFill>
            <a:srgbClr val="17C3A2"/>
          </a:solidFill>
          <a:ln/>
        </p:spPr>
      </p:sp>
      <p:sp>
        <p:nvSpPr>
          <p:cNvPr id="9" name="Split MVP"/>
          <p:cNvSpPr txBox="1"/>
          <p:nvPr/>
        </p:nvSpPr>
        <p:spPr>
          <a:xfrm>
            <a:off x="3743919" y="4381530"/>
            <a:ext cx="731520" cy="54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2E"/>
                </a:solidFill>
              </a:rPr>
              <a:t>MVP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A2E"/>
                </a:solidFill>
              </a:rPr>
              <a:t>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7121" y="4381530"/>
            <a:ext cx="883950" cy="546080"/>
          </a:xfrm>
          <a:prstGeom prst="roundRect">
            <a:avLst>
              <a:gd name="adj" fmla="val 8372"/>
            </a:avLst>
          </a:prstGeom>
          <a:solidFill>
            <a:srgbClr val="E8F1EF"/>
          </a:solidFill>
          <a:ln/>
        </p:spPr>
      </p:sp>
      <p:sp>
        <p:nvSpPr>
          <p:cNvPr id="11" name="Split Held-out"/>
          <p:cNvSpPr txBox="1"/>
          <p:nvPr/>
        </p:nvSpPr>
        <p:spPr>
          <a:xfrm>
            <a:off x="4653290" y="4381530"/>
            <a:ext cx="731520" cy="54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2F"/>
                </a:solidFill>
              </a:rPr>
              <a:t>Held-out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82F"/>
                </a:solidFill>
              </a:rPr>
              <a:t>80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90570" y="5029200"/>
            <a:ext cx="44704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3C0"/>
                </a:solidFill>
              </a:rPr>
              <a:t>Every subcategory appears 3+ times in each test set. The held-out set is a separate run, locked until the progress review.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42010" y="1193841"/>
            <a:ext cx="5537241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D3B3"/>
                </a:solidFill>
              </a:rPr>
              <a:t>What a good result looks like</a:t>
            </a:r>
            <a:endParaRPr lang="en-US" sz="1500" dirty="0"/>
          </a:p>
        </p:txBody>
      </p:sp>
      <p:graphicFrame>
        <p:nvGraphicFramePr>
          <p:cNvPr id="5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2010" y="1498610"/>
          <a:ext cx="5537241" cy="914400"/>
        </p:xfrm>
        <a:graphic>
          <a:graphicData uri="http://schemas.openxmlformats.org/drawingml/2006/table">
            <a:tbl>
              <a:tblPr/>
              <a:tblGrid>
                <a:gridCol w="3987790"/>
                <a:gridCol w="1549359"/>
              </a:tblGrid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6F5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6F5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85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Category accuracy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≥ 80%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Subcategory accuracy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≥ 70%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Extraction exact match (ref, amount, date)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≥ 80%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D3B3"/>
                          </a:solidFill>
                        </a:rPr>
                        <a:t>Accuracy on tickets not escalated (key)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D3B3"/>
                          </a:solidFill>
                        </a:rPr>
                        <a:t>≥ 85%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550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Escalation rate (fraud counted separately)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≤ 30%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Calibration: stated vs actual confidence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within 10 pts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Drafts sent with minor edits only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≥ 70%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Throughput: tickets, time and cost per batch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reported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</a:tr>
              <a:tr h="27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Agent minutes per ticket: manual vs with drafts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1EF"/>
                          </a:solidFill>
                        </a:rPr>
                        <a:t>measured</a:t>
                      </a:r>
                      <a:endParaRPr lang="en-US" sz="1200" dirty="0"/>
                    </a:p>
                  </a:txBody>
                  <a:tcPr marL="100584" marR="100584" marT="18288" marB="18288" anchor="ctr">
                    <a:lnL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5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840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842010" y="4324380"/>
            <a:ext cx="5537241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3C0"/>
                </a:solidFill>
              </a:rPr>
              <a:t>Thresholds tuned on dev only · drafts graded by Opus, checked against 30 hand-rated</a:t>
            </a:r>
            <a:endParaRPr lang="en-US" sz="1200" dirty="0"/>
          </a:p>
        </p:txBody>
      </p:sp>
      <p:sp>
        <p:nvSpPr>
          <p:cNvPr id="16" name="Tools and disclosure"/>
          <p:cNvSpPr txBox="1"/>
          <p:nvPr/>
        </p:nvSpPr>
        <p:spPr>
          <a:xfrm>
            <a:off x="5842010" y="5206959"/>
            <a:ext cx="5537241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F1EF"/>
                </a:solidFill>
              </a:rPr>
              <a:t>Tools: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1EF"/>
                </a:solidFill>
              </a:rPr>
              <a:t>Python, Anthropic API, JSON schema, Streamlit, Faker.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F1EF"/>
                </a:solidFill>
              </a:rPr>
              <a:t>Disclosed: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1EF"/>
                </a:solidFill>
              </a:rPr>
              <a:t>Claude Code as coding assistant. No real data; account details masked in logs.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A9C3C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812810" y="660380"/>
            <a:ext cx="927101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82F"/>
                </a:solidFill>
              </a:rPr>
              <a:t>Risks, plan to the MVP, and the repo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1193841"/>
            <a:ext cx="520695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82F"/>
                </a:solidFill>
              </a:rPr>
              <a:t>What could go wrong</a:t>
            </a:r>
            <a:endParaRPr lang="en-US" sz="1500" dirty="0"/>
          </a:p>
        </p:txBody>
      </p:sp>
      <p:graphicFrame>
        <p:nvGraphicFramePr>
          <p:cNvPr id="6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498610"/>
          <a:ext cx="5206959" cy="914400"/>
        </p:xfrm>
        <a:graphic>
          <a:graphicData uri="http://schemas.openxmlformats.org/drawingml/2006/table">
            <a:tbl>
              <a:tblPr/>
              <a:tblGrid>
                <a:gridCol w="2184410"/>
                <a:gridCol w="3022641"/>
              </a:tblGrid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6F5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6F5"/>
                          </a:solidFill>
                        </a:rPr>
                        <a:t>How we handle it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2F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Tickets too clean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Deliberate noise, plus a hand-check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Model invents a reference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Blank and flagged; the ref must appear in the ticket text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Bad JSON or API failure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Retry once, then escalate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Overconfident model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Calibrated score, rule cross-checks, high-risk re-checked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Prompt injection in a ticket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The ticket is treated as data only, and flagged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C"/>
                    </a:solidFill>
                  </a:tcPr>
                </a:tc>
              </a:tr>
              <a:tr h="292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4D"/>
                          </a:solidFill>
                        </a:rPr>
                        <a:t>Credits run out mid-demo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4D"/>
                          </a:solidFill>
                        </a:rPr>
                        <a:t>Cached demo batch, limits checked beforehand</a:t>
                      </a:r>
                      <a:endParaRPr lang="en-US" sz="1200" dirty="0"/>
                    </a:p>
                  </a:txBody>
                  <a:tcPr marL="100584" marR="100584" marT="27432" marB="27432" anchor="ctr">
                    <a:lnL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23041" y="1193841"/>
            <a:ext cx="51562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82F"/>
                </a:solidFill>
              </a:rPr>
              <a:t>Week by week to 08/11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23041" y="1524030"/>
            <a:ext cx="1270010" cy="241310"/>
          </a:xfrm>
          <a:prstGeom prst="roundRect">
            <a:avLst>
              <a:gd name="adj" fmla="val 18947"/>
            </a:avLst>
          </a:prstGeom>
          <a:solidFill>
            <a:srgbClr val="0B7A8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99210" y="1524030"/>
            <a:ext cx="1117580" cy="24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5"/>
                </a:solidFill>
              </a:rPr>
              <a:t>18–22 Oct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594641" y="1549359"/>
            <a:ext cx="378461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74D"/>
                </a:solidFill>
              </a:rPr>
              <a:t>Brief, repo, category tree, generator prompt, first 50 tickets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23041" y="1993941"/>
            <a:ext cx="1270010" cy="241310"/>
          </a:xfrm>
          <a:prstGeom prst="roundRect">
            <a:avLst>
              <a:gd name="adj" fmla="val 18947"/>
            </a:avLst>
          </a:prstGeom>
          <a:solidFill>
            <a:srgbClr val="0B7A8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99210" y="1993941"/>
            <a:ext cx="1117580" cy="24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5"/>
                </a:solidFill>
              </a:rPr>
              <a:t>23–29 Oct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94641" y="2019270"/>
            <a:ext cx="378461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74D"/>
                </a:solidFill>
              </a:rPr>
              <a:t>All 400 tickets, hand-check, split; classify + extract; first dev results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23041" y="2463759"/>
            <a:ext cx="1270010" cy="241310"/>
          </a:xfrm>
          <a:prstGeom prst="roundRect">
            <a:avLst>
              <a:gd name="adj" fmla="val 18947"/>
            </a:avLst>
          </a:prstGeom>
          <a:solidFill>
            <a:srgbClr val="0B7A8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99210" y="2463759"/>
            <a:ext cx="1117580" cy="24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5"/>
                </a:solidFill>
              </a:rPr>
              <a:t>30 Oct–5 Nov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594641" y="2489180"/>
            <a:ext cx="378461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74D"/>
                </a:solidFill>
              </a:rPr>
              <a:t>Confidence gate, routing, drafts, batch runner, demo pages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23041" y="2933670"/>
            <a:ext cx="1270010" cy="241310"/>
          </a:xfrm>
          <a:prstGeom prst="roundRect">
            <a:avLst>
              <a:gd name="adj" fmla="val 18947"/>
            </a:avLst>
          </a:prstGeom>
          <a:solidFill>
            <a:srgbClr val="17C3A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99210" y="2933670"/>
            <a:ext cx="1117580" cy="24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E"/>
                </a:solidFill>
              </a:rPr>
              <a:t>6–8 Nov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594641" y="2959090"/>
            <a:ext cx="378461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74D"/>
                </a:solidFill>
              </a:rPr>
              <a:t>MVP test run, one-page update, submit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223041" y="3441710"/>
            <a:ext cx="5156210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A5F64"/>
                </a:solidFill>
              </a:rPr>
              <a:t>Cut if short on time: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F64"/>
                </a:solidFill>
              </a:rPr>
              <a:t>weekly pattern report → multi-run voting → Sonnet second opinion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2810" y="4686300"/>
            <a:ext cx="10566441" cy="1155710"/>
          </a:xfrm>
          <a:prstGeom prst="roundRect">
            <a:avLst>
              <a:gd name="adj" fmla="val 8703"/>
            </a:avLst>
          </a:prstGeom>
          <a:solidFill>
            <a:srgbClr val="0B7A8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15990" y="4838730"/>
            <a:ext cx="663570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EDEA"/>
                </a:solidFill>
              </a:rPr>
              <a:t>DEMO APP, IN IRAQI ARABIC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15990" y="5067330"/>
            <a:ext cx="663570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F6F5"/>
                </a:solidFill>
              </a:rPr>
              <a:t>Pipeline page: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5"/>
                </a:solidFill>
              </a:rPr>
              <a:t>tickets moving through stages, drafts by team inbox, approve / edit / escalate, paste-a-ticket box for live input.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F6F5"/>
                </a:solidFill>
              </a:rPr>
              <a:t>Report page: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5"/>
                </a:solidFill>
              </a:rPr>
              <a:t>counts, escalation reasons, confidence, cost.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854970" y="4838730"/>
            <a:ext cx="332100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EDEA"/>
                </a:solidFill>
              </a:rPr>
              <a:t>GITHUB REPO</a:t>
            </a:r>
            <a:endParaRPr lang="en-US" sz="1200" dirty="0"/>
          </a:p>
        </p:txBody>
      </p:sp>
      <p:sp>
        <p:nvSpPr>
          <p:cNvPr id="23" name="Repo link"/>
          <p:cNvSpPr txBox="1"/>
          <p:nvPr/>
        </p:nvSpPr>
        <p:spPr>
          <a:xfrm>
            <a:off x="7854970" y="5067330"/>
            <a:ext cx="3321009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u="sng" dirty="0">
                <a:solidFill>
                  <a:srgbClr val="F3F6F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github.com/SDeath-Scythe/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u="sng" dirty="0">
                <a:solidFill>
                  <a:srgbClr val="F3F6F5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Support-Pipeline-Automation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41" y="6286500"/>
            <a:ext cx="1270010" cy="2158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port Pipeline">
  <a:themeElements>
    <a:clrScheme name="Support Pipeline">
      <a:dk1>
        <a:srgbClr val="10282F"/>
      </a:dk1>
      <a:lt1>
        <a:srgbClr val="F3F6F5"/>
      </a:lt1>
      <a:dk2>
        <a:srgbClr val="33474D"/>
      </a:dk2>
      <a:lt2>
        <a:srgbClr val="FBFCFC"/>
      </a:lt2>
      <a:accent1>
        <a:srgbClr val="0B7A85"/>
      </a:accent1>
      <a:accent2>
        <a:srgbClr val="17C3A2"/>
      </a:accent2>
      <a:accent3>
        <a:srgbClr val="2FD3B3"/>
      </a:accent3>
      <a:accent4>
        <a:srgbClr val="FBE7DC"/>
      </a:accent4>
      <a:accent5>
        <a:srgbClr val="B5532A"/>
      </a:accent5>
      <a:accent6>
        <a:srgbClr val="173840"/>
      </a:accent6>
      <a:hlink>
        <a:srgbClr val="0B7A85"/>
      </a:hlink>
      <a:folHlink>
        <a:srgbClr val="0B7A85"/>
      </a:folHlink>
    </a:clrScheme>
    <a:fontScheme name="Support Pipeli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SalihSafaaMohammed_Topic6_SupportPipelineAutomation</dc:title>
  <dc:subject>Agentic AI Challenge Iraq, Topic 06 design brief</dc:subject>
  <dc:creator>Salih Safaa Mohammed</dc:creator>
  <cp:lastModifiedBy>Salih Safaa Mohammed</cp:lastModifiedBy>
  <cp:revision>1</cp:revision>
  <dcterms:created xsi:type="dcterms:W3CDTF">2026-10-18T19:19:21Z</dcterms:created>
  <dcterms:modified xsi:type="dcterms:W3CDTF">2026-10-18T19:19:21Z</dcterms:modified>
</cp:coreProperties>
</file>